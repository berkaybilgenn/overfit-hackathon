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63946"/>
                </a:solidFill>
                <a:latin typeface="Segoe UI"/>
              </a:rPr>
              <a:t>OVERFIT HACKATHON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>
                <a:solidFill>
                  <a:srgbClr val="F2F5FA"/>
                </a:solidFill>
                <a:latin typeface="Segoe UI"/>
              </a:rPr>
              <a:t>PUSULA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965960"/>
            <a:ext cx="92628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EACC0"/>
                </a:solidFill>
                <a:latin typeface="Segoe UI"/>
              </a:rPr>
              <a:t>Üniversite ve kariyer tercih simülatörü — 3D giriş deneyimi, adaptif yönelim analizi ve gerçek YÖK Atlas 2026 verisi.</a:t>
            </a:r>
          </a:p>
        </p:txBody>
      </p:sp>
      <p:pic>
        <p:nvPicPr>
          <p:cNvPr id="5" name="Picture 4" descr="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2834640"/>
            <a:ext cx="7863840" cy="3931920"/>
          </a:xfrm>
          <a:prstGeom prst="rect">
            <a:avLst/>
          </a:prstGeom>
          <a:ln w="12700">
            <a:solidFill>
              <a:srgbClr val="2C4A80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63946"/>
                </a:solidFill>
                <a:latin typeface="Segoe U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2F5FA"/>
                </a:solidFill>
                <a:latin typeface="Segoe UI"/>
              </a:rPr>
              <a:t>Tercih dönemi üç duvara çarpıyor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3383280" cy="237744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2C4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/>
            <a:r>
              <a:rPr sz="1500" b="1">
                <a:solidFill>
                  <a:srgbClr val="F2F5FA"/>
                </a:solidFill>
                <a:latin typeface="Segoe UI"/>
              </a:rPr>
              <a:t>01 · Kararsızlık</a:t>
            </a:r>
          </a:p>
          <a:p>
            <a:pPr algn="l"/>
            <a:r>
              <a:rPr sz="1200">
                <a:solidFill>
                  <a:srgbClr val="9EACC0"/>
                </a:solidFill>
                <a:latin typeface="Segoe UI"/>
              </a:rPr>
              <a:t>Puanı olmayan ya da alanını bilmeyen öğrenci, “puan gir → liste al” kalıbına hiç giremiyor.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07408" y="2377440"/>
            <a:ext cx="3383280" cy="237744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2C4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/>
            <a:r>
              <a:rPr sz="1500" b="1">
                <a:solidFill>
                  <a:srgbClr val="F2F5FA"/>
                </a:solidFill>
                <a:latin typeface="Segoe UI"/>
              </a:rPr>
              <a:t>02 · Veri güveni</a:t>
            </a:r>
          </a:p>
          <a:p>
            <a:pPr algn="l"/>
            <a:r>
              <a:rPr sz="1200">
                <a:solidFill>
                  <a:srgbClr val="9EACC0"/>
                </a:solidFill>
                <a:latin typeface="Segoe UI"/>
              </a:rPr>
              <a:t>Öneri siteleri kaynağını göstermiyor; eski yıl verisiyle ya da tahminle konuşuyor.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91856" y="2377440"/>
            <a:ext cx="3383280" cy="237744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2C4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/>
            <a:r>
              <a:rPr sz="1500" b="1">
                <a:solidFill>
                  <a:srgbClr val="F2F5FA"/>
                </a:solidFill>
                <a:latin typeface="Segoe UI"/>
              </a:rPr>
              <a:t>03 · Soğuk deneyim</a:t>
            </a:r>
          </a:p>
          <a:p>
            <a:pPr algn="l"/>
            <a:r>
              <a:rPr sz="1200">
                <a:solidFill>
                  <a:srgbClr val="9EACC0"/>
                </a:solidFill>
                <a:latin typeface="Segoe UI"/>
              </a:rPr>
              <a:t>Tercih araçları form ekranı; stresli dönemdeki 18 yaşındaki kullanıcı için caydırıcı.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63946"/>
                </a:solidFill>
                <a:latin typeface="Segoe UI"/>
              </a:rPr>
              <a:t>ÇÖZÜM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2F5FA"/>
                </a:solidFill>
                <a:latin typeface="Segoe UI"/>
              </a:rPr>
              <a:t>Tek deneyim, iki akış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691640"/>
            <a:ext cx="926287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EACC0"/>
                </a:solidFill>
                <a:latin typeface="Segoe UI"/>
              </a:rPr>
              <a:t>Puanı olan da olmayan da aynı sinematik girişten geçer; ROTA robotu karşılar, 10 adaptif soruyla yönelimi çıkarır, sonuç gerçek veriye dayanır.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91840"/>
            <a:ext cx="1627632" cy="566928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2C4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2F5FA"/>
                </a:solidFill>
                <a:latin typeface="Segoe UI"/>
              </a:rPr>
              <a:t>3D Pusula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7712" y="3346704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63946"/>
                </a:solidFill>
                <a:latin typeface="Segoe U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3291840"/>
            <a:ext cx="1627632" cy="566928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2C4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2F5FA"/>
                </a:solidFill>
                <a:latin typeface="Segoe UI"/>
              </a:rPr>
              <a:t>ROTA ile tanışma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9664" y="3346704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63946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4" y="3291840"/>
            <a:ext cx="1627632" cy="566928"/>
          </a:xfrm>
          <a:prstGeom prst="round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2F5FA"/>
                </a:solidFill>
                <a:latin typeface="Segoe UI"/>
              </a:rPr>
              <a:t>Puanım var / yok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71616" y="3346704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63946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3291840"/>
            <a:ext cx="1627632" cy="566928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2C4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2F5FA"/>
                </a:solidFill>
                <a:latin typeface="Segoe UI"/>
              </a:rPr>
              <a:t>10 adaptif soru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346704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63946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3291840"/>
            <a:ext cx="1627632" cy="566928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2C4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2F5FA"/>
                </a:solidFill>
                <a:latin typeface="Segoe UI"/>
              </a:rPr>
              <a:t>Analiz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3346704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63946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3291840"/>
            <a:ext cx="1627632" cy="566928"/>
          </a:xfrm>
          <a:prstGeom prst="round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2F5FA"/>
                </a:solidFill>
                <a:latin typeface="Segoe UI"/>
              </a:rPr>
              <a:t>Bölüm önerileri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63946"/>
                </a:solidFill>
                <a:latin typeface="Segoe UI"/>
              </a:rPr>
              <a:t>DENEYIM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2F5FA"/>
                </a:solidFill>
                <a:latin typeface="Segoe UI"/>
              </a:rPr>
              <a:t>Pusulanın içine uçuş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691640"/>
            <a:ext cx="926287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EACC0"/>
                </a:solidFill>
                <a:latin typeface="Segoe UI"/>
              </a:rPr>
              <a:t>Three.js ile modellenen metal pusula fareyi takip eder; “Kendini Keşfet” butonu cam yüzeyin üzerinde süzülür. Tıklayınca kamera pusulanın içine uçar ve beyaz perdenin arkasında sahne değişir.</a:t>
            </a:r>
          </a:p>
        </p:txBody>
      </p:sp>
      <p:pic>
        <p:nvPicPr>
          <p:cNvPr id="5" name="Picture 4" descr="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4937760" cy="2468880"/>
          </a:xfrm>
          <a:prstGeom prst="rect">
            <a:avLst/>
          </a:prstGeom>
          <a:ln w="12700">
            <a:solidFill>
              <a:srgbClr val="2C4A80"/>
            </a:solidFill>
          </a:ln>
        </p:spPr>
      </p:pic>
      <p:pic>
        <p:nvPicPr>
          <p:cNvPr id="6" name="Picture 5" descr="3-zoom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743200"/>
            <a:ext cx="4937760" cy="2468880"/>
          </a:xfrm>
          <a:prstGeom prst="rect">
            <a:avLst/>
          </a:prstGeom>
          <a:ln w="12700">
            <a:solidFill>
              <a:srgbClr val="2C4A80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63946"/>
                </a:solidFill>
                <a:latin typeface="Segoe UI"/>
              </a:rPr>
              <a:t>DENEYIM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2F5FA"/>
                </a:solidFill>
                <a:latin typeface="Segoe UI"/>
              </a:rPr>
              <a:t>ROTA ile tanışma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691640"/>
            <a:ext cx="926287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EACC0"/>
                </a:solidFill>
                <a:latin typeface="Segoe UI"/>
              </a:rPr>
              <a:t>Sevimli robot ROTA, iki avucunda “YKS Puanım Var / Yok” seçimini sunar. Kafası imleci takip eder, göz kırpar; arkada kariyer temalı süzülen objeler ve dönen pusula gülü derinlik katar.</a:t>
            </a:r>
          </a:p>
        </p:txBody>
      </p:sp>
      <p:pic>
        <p:nvPicPr>
          <p:cNvPr id="5" name="Picture 4" descr="4-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2651760"/>
            <a:ext cx="7863840" cy="3931920"/>
          </a:xfrm>
          <a:prstGeom prst="rect">
            <a:avLst/>
          </a:prstGeom>
          <a:ln w="12700">
            <a:solidFill>
              <a:srgbClr val="2C4A80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63946"/>
                </a:solidFill>
                <a:latin typeface="Segoe UI"/>
              </a:rPr>
              <a:t>DENEYIM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2F5FA"/>
                </a:solidFill>
                <a:latin typeface="Segoe UI"/>
              </a:rPr>
              <a:t>Soruyu ROTA sorar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691640"/>
            <a:ext cx="926287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EACC0"/>
                </a:solidFill>
                <a:latin typeface="Segoe UI"/>
              </a:rPr>
              <a:t>Tercih koşullarının ardından 10 adaptif soru başlar. Soru kartı, ROTA'ya dönük kuyruğuyla bir konuşma balonudur — robot quiz boyunca kullanıcıya eşlik eder.</a:t>
            </a:r>
          </a:p>
        </p:txBody>
      </p:sp>
      <p:pic>
        <p:nvPicPr>
          <p:cNvPr id="5" name="Picture 4" descr="6-prefer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4937760" cy="2468880"/>
          </a:xfrm>
          <a:prstGeom prst="rect">
            <a:avLst/>
          </a:prstGeom>
          <a:ln w="12700">
            <a:solidFill>
              <a:srgbClr val="2C4A80"/>
            </a:solidFill>
          </a:ln>
        </p:spPr>
      </p:pic>
      <p:pic>
        <p:nvPicPr>
          <p:cNvPr id="6" name="Picture 5" descr="7-quiz-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743200"/>
            <a:ext cx="4937760" cy="2468880"/>
          </a:xfrm>
          <a:prstGeom prst="rect">
            <a:avLst/>
          </a:prstGeom>
          <a:ln w="12700">
            <a:solidFill>
              <a:srgbClr val="2C4A8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63946"/>
                </a:solidFill>
                <a:latin typeface="Segoe UI"/>
              </a:rPr>
              <a:t>DENEYIM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2F5FA"/>
                </a:solidFill>
                <a:latin typeface="Segoe UI"/>
              </a:rPr>
              <a:t>Analiz anı hissettirir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691640"/>
            <a:ext cx="926287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EACC0"/>
                </a:solidFill>
                <a:latin typeface="Segoe UI"/>
              </a:rPr>
              <a:t>Son sorudan sonra dönen ışıklı halkanın merkezinde ROTA belirir; alttaki bar dolarken “Rota cevaplarını analiz ediyor…” mesajları akar. Bar dolunca sonuç sayfası açılır.</a:t>
            </a:r>
          </a:p>
        </p:txBody>
      </p:sp>
      <p:pic>
        <p:nvPicPr>
          <p:cNvPr id="5" name="Picture 4" descr="8-analy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2651760"/>
            <a:ext cx="7863840" cy="3931920"/>
          </a:xfrm>
          <a:prstGeom prst="rect">
            <a:avLst/>
          </a:prstGeom>
          <a:ln w="12700">
            <a:solidFill>
              <a:srgbClr val="2C4A80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63946"/>
                </a:solidFill>
                <a:latin typeface="Segoe UI"/>
              </a:rPr>
              <a:t>SONUÇ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2F5FA"/>
                </a:solidFill>
                <a:latin typeface="Segoe UI"/>
              </a:rPr>
              <a:t>Öneri değil, veriye dayalı eşleştirme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691640"/>
            <a:ext cx="92628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EACC0"/>
                </a:solidFill>
                <a:latin typeface="Segoe UI"/>
              </a:rPr>
              <a:t>Persona uyumu ile veriden gelen erişilebilirlik ayrı gösterilir. Her program yalnızca kendi puan türüyle karşılaştırılır; yayımlanmamış sıra asla tahmin edilmez, nedeni açıkça yazılır.</a:t>
            </a:r>
          </a:p>
        </p:txBody>
      </p:sp>
      <p:pic>
        <p:nvPicPr>
          <p:cNvPr id="5" name="Picture 4" descr="8-analy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567" y="2514600"/>
            <a:ext cx="6766560" cy="3383280"/>
          </a:xfrm>
          <a:prstGeom prst="rect">
            <a:avLst/>
          </a:prstGeom>
          <a:ln w="12700">
            <a:solidFill>
              <a:srgbClr val="2C4A8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371600" y="5623560"/>
            <a:ext cx="2011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E63946"/>
                </a:solidFill>
                <a:latin typeface="Segoe UI"/>
              </a:rPr>
              <a:t>21.493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19048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EACC0"/>
                </a:solidFill>
                <a:latin typeface="Segoe UI"/>
              </a:rPr>
              <a:t>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5623560"/>
            <a:ext cx="2011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E63946"/>
                </a:solidFill>
                <a:latin typeface="Segoe UI"/>
              </a:rPr>
              <a:t>634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19048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EACC0"/>
                </a:solidFill>
                <a:latin typeface="Segoe UI"/>
              </a:rPr>
              <a:t>BÖLÜM GRUBU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5623560"/>
            <a:ext cx="2011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E63946"/>
                </a:solidFill>
                <a:latin typeface="Segoe UI"/>
              </a:rPr>
              <a:t>228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619048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EACC0"/>
                </a:solidFill>
                <a:latin typeface="Segoe UI"/>
              </a:rPr>
              <a:t>ÜNIVERSITE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5623560"/>
            <a:ext cx="2011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E63946"/>
                </a:solidFill>
                <a:latin typeface="Segoe UI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19048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EACC0"/>
                </a:solidFill>
                <a:latin typeface="Segoe UI"/>
              </a:rPr>
              <a:t>YÖK ATLAS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63946"/>
                </a:solidFill>
                <a:latin typeface="Segoe UI"/>
              </a:rPr>
              <a:t>TEKNIK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2F5FA"/>
                </a:solidFill>
                <a:latin typeface="Segoe UI"/>
              </a:rPr>
              <a:t>Motor, arayüzden bağımsız bir paket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9784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E63946"/>
                </a:solidFill>
                <a:latin typeface="Segoe UI"/>
              </a:rPr>
              <a:t>▸ </a:t>
            </a:r>
            <a:r>
              <a:rPr sz="1400" b="1">
                <a:solidFill>
                  <a:srgbClr val="F2F5FA"/>
                </a:solidFill>
                <a:latin typeface="Segoe UI"/>
              </a:rPr>
              <a:t>Adaptif soru motoru: </a:t>
            </a:r>
            <a:r>
              <a:rPr sz="1400">
                <a:solidFill>
                  <a:srgbClr val="9EACC0"/>
                </a:solidFill>
                <a:latin typeface="Segoe UI"/>
              </a:rPr>
              <a:t>80 soruluk havuz, 14 persona boyutu, 15 kariyer ailesi; her cevap bir sonraki soruyu bilgi kazancına göre değiştirir — gerçek yollarda %94,4 ayrışma.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E63946"/>
                </a:solidFill>
                <a:latin typeface="Segoe UI"/>
              </a:rPr>
              <a:t>▸ </a:t>
            </a:r>
            <a:r>
              <a:rPr sz="1400" b="1">
                <a:solidFill>
                  <a:srgbClr val="F2F5FA"/>
                </a:solidFill>
                <a:latin typeface="Segoe UI"/>
              </a:rPr>
              <a:t>Deterministik geri alma: </a:t>
            </a:r>
            <a:r>
              <a:rPr sz="1400">
                <a:solidFill>
                  <a:srgbClr val="9EACC0"/>
                </a:solidFill>
                <a:latin typeface="Segoe UI"/>
              </a:rPr>
              <a:t>cevap değişince sonrası skordan tamamen düşer, yol yeniden kurulur; aynı cevap dizisi her zaman aynı sonucu üretir.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E63946"/>
                </a:solidFill>
                <a:latin typeface="Segoe UI"/>
              </a:rPr>
              <a:t>▸ </a:t>
            </a:r>
            <a:r>
              <a:rPr sz="1400" b="1">
                <a:solidFill>
                  <a:srgbClr val="F2F5FA"/>
                </a:solidFill>
                <a:latin typeface="Segoe UI"/>
              </a:rPr>
              <a:t>Sıfır bağımlılık: </a:t>
            </a:r>
            <a:r>
              <a:rPr sz="1400">
                <a:solidFill>
                  <a:srgbClr val="9EACC0"/>
                </a:solidFill>
                <a:latin typeface="Segoe UI"/>
              </a:rPr>
              <a:t>motor saf JS; UI onu tek sözleşme noktasından (CONTRACT.md) kullanır, 3,2 MB katalog bundle dışından fetch edilir.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E63946"/>
                </a:solidFill>
                <a:latin typeface="Segoe UI"/>
              </a:rPr>
              <a:t>▸ </a:t>
            </a:r>
            <a:r>
              <a:rPr sz="1400" b="1">
                <a:solidFill>
                  <a:srgbClr val="F2F5FA"/>
                </a:solidFill>
                <a:latin typeface="Segoe UI"/>
              </a:rPr>
              <a:t>3D katman: </a:t>
            </a:r>
            <a:r>
              <a:rPr sz="1400">
                <a:solidFill>
                  <a:srgbClr val="9EACC0"/>
                </a:solidFill>
                <a:latin typeface="Segoe UI"/>
              </a:rPr>
              <a:t>responsive kamera her ekranda aynı kadrajı korur; ışıklar prosedürel — hiçbir doku indirilmez, tamamen çevrimdışı çalışır.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2011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E63946"/>
                </a:solidFill>
                <a:latin typeface="Segoe UI"/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605332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EACC0"/>
                </a:solidFill>
                <a:latin typeface="Segoe UI"/>
              </a:rPr>
              <a:t>MOTOR TESTI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5486400"/>
            <a:ext cx="2011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E63946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605332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EACC0"/>
                </a:solidFill>
                <a:latin typeface="Segoe UI"/>
              </a:rPr>
              <a:t>KATALOG TESTI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486400"/>
            <a:ext cx="2011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E63946"/>
                </a:solidFill>
                <a:latin typeface="Segoe UI"/>
              </a:rPr>
              <a:t>E2E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605332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EACC0"/>
                </a:solidFill>
                <a:latin typeface="Segoe UI"/>
              </a:rPr>
              <a:t>PUPPETEER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5486400"/>
            <a:ext cx="2011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E63946"/>
                </a:solidFill>
                <a:latin typeface="Segoe UI"/>
              </a:rPr>
              <a:t>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05332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EACC0"/>
                </a:solidFill>
                <a:latin typeface="Segoe UI"/>
              </a:rPr>
              <a:t>GITHUB ACTIONS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63946"/>
                </a:solidFill>
                <a:latin typeface="Segoe UI"/>
              </a:rPr>
              <a:t>KAPANIŞ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F2F5FA"/>
                </a:solidFill>
                <a:latin typeface="Segoe UI"/>
              </a:rPr>
              <a:t>PUSULA ile herkes yolunu bulur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691640"/>
            <a:ext cx="926287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EACC0"/>
                </a:solidFill>
                <a:latin typeface="Segoe UI"/>
              </a:rPr>
              <a:t>Puanı olan da olmayan da. Dürüst veri, sevimli bir yol arkadaşı ve gerçekten adaptif bir analiz.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9784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E63946"/>
                </a:solidFill>
                <a:latin typeface="Segoe UI"/>
              </a:rPr>
              <a:t>▸ </a:t>
            </a:r>
            <a:r>
              <a:rPr sz="1400" b="1">
                <a:solidFill>
                  <a:srgbClr val="F2F5FA"/>
                </a:solidFill>
                <a:latin typeface="Segoe UI"/>
              </a:rPr>
              <a:t>Bilinçli sınırlar: </a:t>
            </a:r>
            <a:r>
              <a:rPr sz="1400">
                <a:solidFill>
                  <a:srgbClr val="9EACC0"/>
                </a:solidFill>
                <a:latin typeface="Segoe UI"/>
              </a:rPr>
              <a:t>sorular editoryal incelemede (draft), kariyer ailesi ağırlıkları tek dosyada şeffaf varsayım, bağlayıcı kaynak her zaman ÖSYM kılavuzu.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E63946"/>
                </a:solidFill>
                <a:latin typeface="Segoe UI"/>
              </a:rPr>
              <a:t>▸ </a:t>
            </a:r>
            <a:r>
              <a:rPr sz="1400" b="1">
                <a:solidFill>
                  <a:srgbClr val="F2F5FA"/>
                </a:solidFill>
                <a:latin typeface="Segoe UI"/>
              </a:rPr>
              <a:t>Sonraki adım: </a:t>
            </a:r>
            <a:r>
              <a:rPr sz="1400">
                <a:solidFill>
                  <a:srgbClr val="9EACC0"/>
                </a:solidFill>
                <a:latin typeface="Segoe UI"/>
              </a:rPr>
              <a:t>soruların pedagojik validasyonu, sonuç ekranında şehir karşılaştırması, PWA ile offline tercih listesi.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EACC0"/>
                </a:solidFill>
                <a:latin typeface="Segoe UI"/>
              </a:rPr>
              <a:t>github.com/BerkayBilgenn/OverFit-Hackathon · Veri YÖK ve ÖSYM'ye aittir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